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70" r:id="rId6"/>
    <p:sldId id="259" r:id="rId7"/>
    <p:sldId id="265" r:id="rId8"/>
    <p:sldId id="266" r:id="rId9"/>
    <p:sldId id="267" r:id="rId10"/>
    <p:sldId id="260" r:id="rId11"/>
    <p:sldId id="271" r:id="rId12"/>
    <p:sldId id="273" r:id="rId13"/>
    <p:sldId id="261" r:id="rId14"/>
    <p:sldId id="262" r:id="rId15"/>
    <p:sldId id="272" r:id="rId16"/>
    <p:sldId id="263" r:id="rId17"/>
    <p:sldId id="26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3CB54-165A-4734-94FC-0375BB271E3D}" v="1603" dt="2026-01-10T09:58:57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EEDFC-3C17-42B4-B1CD-074A29383481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DCBA0-16A6-4F0E-88D8-9D485AC2E6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05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4DCBA0-16A6-4F0E-88D8-9D485AC2E6C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574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354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988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09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9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02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69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49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860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44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57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0682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3204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4776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3766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10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032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A9A0A-ED58-4C7B-B4D4-914105174B96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267BD1C-9AC8-431A-810A-8CA42860D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89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62BB-7C59-0A2C-5A28-4E486FBF4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351"/>
            <a:ext cx="9144000" cy="23876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500" b="1" dirty="0"/>
              <a:t>Retail Sales &amp; Customer Behavior Analysis</a:t>
            </a:r>
            <a:endParaRPr lang="en-IN" sz="45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E25A25-FCC4-B3AA-3493-014A34E2F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6284" y="3192706"/>
            <a:ext cx="9144000" cy="1655762"/>
          </a:xfrm>
          <a:solidFill>
            <a:schemeClr val="bg2">
              <a:lumMod val="60000"/>
              <a:lumOff val="40000"/>
            </a:schemeClr>
          </a:solidFill>
        </p:spPr>
        <p:txBody>
          <a:bodyPr anchor="ctr">
            <a:normAutofit/>
          </a:bodyPr>
          <a:lstStyle/>
          <a:p>
            <a:r>
              <a:rPr lang="en-US" sz="2500" i="1" dirty="0"/>
              <a:t>Data Analyst Associate (CDA) Internship Project</a:t>
            </a:r>
          </a:p>
          <a:p>
            <a:r>
              <a:rPr lang="en-US" sz="2500" i="1" dirty="0"/>
              <a:t>By Meet Patel.</a:t>
            </a:r>
            <a:endParaRPr lang="en-IN" sz="2500" i="1" dirty="0"/>
          </a:p>
        </p:txBody>
      </p:sp>
    </p:spTree>
    <p:extLst>
      <p:ext uri="{BB962C8B-B14F-4D97-AF65-F5344CB8AC3E}">
        <p14:creationId xmlns:p14="http://schemas.microsoft.com/office/powerpoint/2010/main" val="4275505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80A4-4C76-11E7-61C5-0658548B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2988" y="164452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sz="3000" b="1" dirty="0"/>
              <a:t>Goal:</a:t>
            </a:r>
            <a:r>
              <a:rPr lang="en-US" sz="3000" dirty="0"/>
              <a:t> To analyze a cleaned MySQL database of 99k+ transactions and visualize key drivers of revenue across 10 major shopping hubs.</a:t>
            </a:r>
            <a:endParaRPr lang="en-IN" sz="3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176B74-42EB-E027-79D1-D0CDE541CA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169083"/>
            <a:ext cx="1008647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Revenue is heavily driven by female consumers (approx. 60%) and the 18-30 age demographic.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Clothing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is the core product category, generating significantly more revenue than any other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Geographic concentration is high, with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Mall of Istanbul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acting as the primary revenue hub.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9F439D-ECB6-04A4-0779-BBB001D5B01C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D40D8B-6AC1-5FA2-F80B-56CCFDE520F5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18948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5E21D-9893-AA6B-B00F-B4F6D6B8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Gender Distribution &amp; Revenue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9C17-45A0-8D3C-B270-E923908E7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589" y="1825625"/>
            <a:ext cx="5795211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b="1" dirty="0"/>
              <a:t>Analysis:</a:t>
            </a:r>
            <a:endParaRPr lang="en-US" sz="2100" dirty="0"/>
          </a:p>
          <a:p>
            <a:r>
              <a:rPr lang="en-US" sz="2100" b="1" dirty="0"/>
              <a:t>Revenue Share:</a:t>
            </a:r>
            <a:r>
              <a:rPr lang="en-US" sz="2100" dirty="0"/>
              <a:t> Females generated </a:t>
            </a:r>
            <a:r>
              <a:rPr lang="en-US" sz="2100" b="1" dirty="0"/>
              <a:t>150.21M (59.72%)</a:t>
            </a:r>
            <a:r>
              <a:rPr lang="en-US" sz="2100" dirty="0"/>
              <a:t> of total revenue, while males contributed </a:t>
            </a:r>
            <a:r>
              <a:rPr lang="en-US" sz="2100" b="1" dirty="0"/>
              <a:t>101.3M (40.28%)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endParaRPr lang="en-US" sz="2100" dirty="0"/>
          </a:p>
          <a:p>
            <a:r>
              <a:rPr lang="en-US" sz="2100" b="1" dirty="0"/>
              <a:t>Volume:</a:t>
            </a:r>
            <a:r>
              <a:rPr lang="en-US" sz="2100" dirty="0"/>
              <a:t> Based on total revenue, the female demographic represents the primary customer base for product volume and spending power.</a:t>
            </a:r>
          </a:p>
          <a:p>
            <a:endParaRPr lang="en-IN" sz="21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CD3DC6F-9182-DFE7-EDA0-4F93583DA7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148" y="1690688"/>
            <a:ext cx="5090651" cy="3894035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726023-79FE-BCF0-D6A3-2F6F2E29F158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419FD0-E4C8-B8DE-20AB-A49E5CEE9420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5B41215-D828-FC58-9906-917CC25E0020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6072501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66C58A-9329-9F8B-C40E-0C3C0B78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Most revenue earned by genders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4AA9E5A-98F0-F35A-AD01-1B37CF8BB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453" y="1475874"/>
            <a:ext cx="9833810" cy="4701089"/>
          </a:xfr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ED6241-6CBF-C64D-DB10-AEC2FFF1E8BD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756184-71D3-076F-6B38-D644E58BC9F7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509AB17-58AA-ACBB-C405-C2360B9A08D2}"/>
              </a:ext>
            </a:extLst>
          </p:cNvPr>
          <p:cNvSpPr txBox="1"/>
          <p:nvPr/>
        </p:nvSpPr>
        <p:spPr>
          <a:xfrm>
            <a:off x="2035277" y="6370682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queries represent the core logic used to solve Tasks 1–10.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004691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B6C6-80BE-4492-CBC9-F70877E24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15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Most quantity sold to which gender.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DABEAB-010B-488A-BBCB-AF0EA7BF8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427" y="1472104"/>
            <a:ext cx="9141156" cy="4557806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802852C-0B8C-A8EB-FA58-24C43EBF7467}"/>
              </a:ext>
            </a:extLst>
          </p:cNvPr>
          <p:cNvCxnSpPr/>
          <p:nvPr/>
        </p:nvCxnSpPr>
        <p:spPr>
          <a:xfrm>
            <a:off x="766916" y="1258529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D09578-E25C-CBE2-3F15-B2DBFCE2A653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65619F-769C-CE1D-B632-3223949BA3B4}"/>
              </a:ext>
            </a:extLst>
          </p:cNvPr>
          <p:cNvSpPr txBox="1"/>
          <p:nvPr/>
        </p:nvSpPr>
        <p:spPr>
          <a:xfrm>
            <a:off x="2035277" y="6380514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queries represent the core logic used to solve Tasks 1–10.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216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5433-185C-568C-4914-D8A471F13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Age Group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B5B15-3A11-B44C-9231-A1F13ECBC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0421" y="1690688"/>
            <a:ext cx="5859379" cy="49667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b="1" dirty="0"/>
              <a:t>Analysis: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100" dirty="0"/>
          </a:p>
          <a:p>
            <a:r>
              <a:rPr lang="en-US" sz="2100" b="1" dirty="0"/>
              <a:t>Top Performing Segment:</a:t>
            </a:r>
            <a:r>
              <a:rPr lang="en-US" sz="2100" dirty="0"/>
              <a:t> The </a:t>
            </a:r>
            <a:r>
              <a:rPr lang="en-US" sz="2100" b="1" dirty="0"/>
              <a:t>18-30 age group</a:t>
            </a:r>
            <a:r>
              <a:rPr lang="en-US" sz="2100" dirty="0"/>
              <a:t> is the most valuable, contributing </a:t>
            </a:r>
            <a:r>
              <a:rPr lang="en-US" sz="2100" b="1" dirty="0"/>
              <a:t>112.83M</a:t>
            </a:r>
            <a:r>
              <a:rPr lang="en-US" sz="2100" dirty="0"/>
              <a:t> in revenue.</a:t>
            </a:r>
          </a:p>
          <a:p>
            <a:pPr marL="0" indent="0">
              <a:buNone/>
            </a:pPr>
            <a:endParaRPr lang="en-US" sz="2100" dirty="0"/>
          </a:p>
          <a:p>
            <a:r>
              <a:rPr lang="en-US" sz="2100" dirty="0"/>
              <a:t> </a:t>
            </a:r>
            <a:r>
              <a:rPr lang="en-US" sz="2100" b="1" dirty="0"/>
              <a:t>Mid-Tier:</a:t>
            </a:r>
            <a:r>
              <a:rPr lang="en-US" sz="2100" dirty="0"/>
              <a:t> The 31-45 group follows with </a:t>
            </a:r>
            <a:r>
              <a:rPr lang="en-US" sz="2100" b="1" dirty="0"/>
              <a:t>88.08M</a:t>
            </a:r>
            <a:r>
              <a:rPr lang="en-US" sz="2100" dirty="0"/>
              <a:t>.</a:t>
            </a:r>
          </a:p>
          <a:p>
            <a:pPr marL="0" indent="0">
              <a:buNone/>
            </a:pPr>
            <a:endParaRPr lang="en-IN" sz="21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BFBE90-17AC-F17D-04D4-98A60E56D6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7412" y="1779178"/>
            <a:ext cx="4210942" cy="4120177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FAD48E-1B8A-8748-76D4-D6BAD3CBA634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9BDB28-090F-11C3-C6A6-F998A0188552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903BD5-30B4-ADFB-5A93-DC0BD6F182C2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61909099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6F6DD-A9BF-2503-4457-E70D61AF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Age Group Performance - 2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DC875-A9AC-BA30-0A42-F9691FF1EA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5077" y="1825625"/>
            <a:ext cx="5181600" cy="3995072"/>
          </a:xfrm>
        </p:spPr>
        <p:txBody>
          <a:bodyPr>
            <a:normAutofit lnSpcReduction="10000"/>
          </a:bodyPr>
          <a:lstStyle/>
          <a:p>
            <a:r>
              <a:rPr lang="en-US" sz="2100" b="1" dirty="0"/>
              <a:t>Low-Tier:</a:t>
            </a:r>
            <a:r>
              <a:rPr lang="en-US" sz="2100" dirty="0"/>
              <a:t> Revenue significantly drops in the 46+ demographic (</a:t>
            </a:r>
            <a:r>
              <a:rPr lang="en-US" sz="2100" b="1" dirty="0"/>
              <a:t>50.60M</a:t>
            </a:r>
            <a:r>
              <a:rPr lang="en-US" sz="2100" dirty="0"/>
              <a:t>), indicating a youth-centric market.</a:t>
            </a:r>
          </a:p>
          <a:p>
            <a:endParaRPr lang="en-US" sz="2100" dirty="0"/>
          </a:p>
          <a:p>
            <a:pPr marL="0" indent="0">
              <a:buNone/>
            </a:pPr>
            <a:endParaRPr lang="en-US" sz="2100" dirty="0"/>
          </a:p>
          <a:p>
            <a:r>
              <a:rPr lang="en-US" sz="2100" dirty="0"/>
              <a:t>However, deep-dive analysis of high-value segments shows a pivot toward the </a:t>
            </a:r>
            <a:r>
              <a:rPr lang="en-US" sz="2100" b="1" dirty="0"/>
              <a:t>46+ demographic</a:t>
            </a:r>
            <a:r>
              <a:rPr lang="en-US" sz="2100" dirty="0"/>
              <a:t>, where revenue peaks significantly higher than younger cohorts in specific transaction types.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93841F-86D5-7925-0EC7-9FD47CDB0A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5"/>
            <a:ext cx="5181600" cy="3995072"/>
          </a:xfr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733D0A-A625-BAEA-9934-D0A5ECD1D90B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C2D740-5B14-ED3E-73F1-8FC48CC1D03E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611D78B-4B58-B3DD-588B-D3687993BE3C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2788181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014E-3912-8581-07CA-FECBF8F3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SQL Query sell most according to Age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6FDA6AE-BDA1-94DA-6D67-3214C8126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45" y="1498182"/>
            <a:ext cx="10664730" cy="4678028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A6850A-5219-D84F-8E9B-32DCE86A7565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CA846C-F4FC-3CA2-A8FF-DC32C36171D2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1A6CAB2-D52E-383A-0C5E-03C3A30C02B6}"/>
              </a:ext>
            </a:extLst>
          </p:cNvPr>
          <p:cNvSpPr txBox="1"/>
          <p:nvPr/>
        </p:nvSpPr>
        <p:spPr>
          <a:xfrm>
            <a:off x="2035277" y="6370682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queries represent the core logic used to solve Tasks 1–10.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37333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B635-9B41-4DD9-749F-63D90A84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Most transactions by age group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DE5953-6794-1C13-C8AC-88D66B5F0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363" y="1537484"/>
            <a:ext cx="9323812" cy="4613859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EAD87-C037-241F-BA7C-E29C490A7C9D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5D026A-3F86-5829-77CA-799133AFA1E2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8244FA8-5BD8-848B-A8E7-969A0252C3AF}"/>
              </a:ext>
            </a:extLst>
          </p:cNvPr>
          <p:cNvSpPr txBox="1"/>
          <p:nvPr/>
        </p:nvSpPr>
        <p:spPr>
          <a:xfrm>
            <a:off x="2035277" y="6370682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queries represent the core logic used to solve Tasks 1–10.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47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E62D-7E33-BA57-967C-486E2D47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Product Category Deep-Dive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883E67-D2BD-48B1-2452-C769D5B6CA8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87599" y="1961408"/>
            <a:ext cx="5118466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3 Revenue Drivers: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114M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Shoes: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67M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58M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Niche categories like Books, Souvenirs, and Food &amp;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Beverage contribute minimally To the total revenue (approx. 1M each).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6A67F7-4334-4D4C-ED10-B7F928A6DD4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799305"/>
            <a:ext cx="5334000" cy="4119712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3E59965-58DA-4102-BD95-F48020749622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8602DF-F5AF-96B3-0ED7-ADFC2AD52C1D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23E1A99-4949-CD38-9D5E-77CBAC3F0EAF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115212969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4B8D91-A902-3872-F791-365DC3A5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7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Distribution of purchase category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C74746-63DC-6324-E51C-94F630C72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842" y="1376446"/>
            <a:ext cx="8839199" cy="4735596"/>
          </a:xfr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FA880E-C9EE-44A3-26AA-F061C5599875}"/>
              </a:ext>
            </a:extLst>
          </p:cNvPr>
          <p:cNvCxnSpPr/>
          <p:nvPr/>
        </p:nvCxnSpPr>
        <p:spPr>
          <a:xfrm>
            <a:off x="766916" y="1209368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EF54A5-CB26-39BC-AAE1-A6B253148461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147FCD1-E45A-A1AA-CDE9-0E2258E68252}"/>
              </a:ext>
            </a:extLst>
          </p:cNvPr>
          <p:cNvSpPr txBox="1"/>
          <p:nvPr/>
        </p:nvSpPr>
        <p:spPr>
          <a:xfrm>
            <a:off x="2035277" y="6370682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queries represent the core logic used to solve Tasks 1–10.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54779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82508-64C4-FA84-C52C-A6951851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 to between purchase category and other columns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0FB248-9D10-C000-D9D8-15B2431CC4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490" y="1920056"/>
            <a:ext cx="8397379" cy="3848714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411854-9796-D111-4563-03BC65BDCBDD}"/>
              </a:ext>
            </a:extLst>
          </p:cNvPr>
          <p:cNvCxnSpPr/>
          <p:nvPr/>
        </p:nvCxnSpPr>
        <p:spPr>
          <a:xfrm>
            <a:off x="688258" y="1612030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233857-4A3E-DFA0-0A86-9EBEBE177BD2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0F8CB47-0F5C-0DF5-1F13-E7D6C9E377F5}"/>
              </a:ext>
            </a:extLst>
          </p:cNvPr>
          <p:cNvSpPr txBox="1"/>
          <p:nvPr/>
        </p:nvSpPr>
        <p:spPr>
          <a:xfrm>
            <a:off x="2035277" y="6370682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queries represent the core logic used to solve Tasks 1–10.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357002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8154-C8AF-22DB-C0C0-A741E3D8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Geographic Performance (Shopping Malls)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833FA-AEC0-D25E-69C4-50B91428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239" y="1825625"/>
            <a:ext cx="5181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100" b="1" dirty="0"/>
              <a:t>Regional Insights:</a:t>
            </a:r>
            <a:endParaRPr lang="en-US" sz="2100" dirty="0"/>
          </a:p>
          <a:p>
            <a:r>
              <a:rPr lang="en-US" sz="2100" dirty="0"/>
              <a:t>The </a:t>
            </a:r>
            <a:r>
              <a:rPr lang="en-US" sz="2100" b="1" dirty="0"/>
              <a:t>Mall of Istanbul</a:t>
            </a:r>
            <a:r>
              <a:rPr lang="en-US" sz="2100" dirty="0"/>
              <a:t> is the leading location, accounting for </a:t>
            </a:r>
            <a:r>
              <a:rPr lang="en-US" sz="2100" b="1" dirty="0"/>
              <a:t>24.2%</a:t>
            </a:r>
            <a:r>
              <a:rPr lang="en-US" sz="2100" dirty="0"/>
              <a:t> of total revenue.</a:t>
            </a:r>
          </a:p>
          <a:p>
            <a:r>
              <a:rPr lang="en-US" sz="2100" dirty="0"/>
              <a:t>Other high-performing hubs include </a:t>
            </a:r>
            <a:r>
              <a:rPr lang="en-US" sz="2100" b="1" dirty="0"/>
              <a:t>Kanyon</a:t>
            </a:r>
            <a:r>
              <a:rPr lang="en-US" sz="2100" dirty="0"/>
              <a:t> and </a:t>
            </a:r>
            <a:r>
              <a:rPr lang="en-US" sz="2100" b="1" dirty="0"/>
              <a:t>Metro city</a:t>
            </a:r>
            <a:r>
              <a:rPr lang="en-US" sz="2100" dirty="0"/>
              <a:t>.</a:t>
            </a:r>
          </a:p>
          <a:p>
            <a:r>
              <a:rPr lang="en-US" sz="2100" b="1" dirty="0"/>
              <a:t>Forum Istanbul</a:t>
            </a:r>
            <a:r>
              <a:rPr lang="en-US" sz="2100" dirty="0"/>
              <a:t> represents the lowest regional revenue, suggesting a need for a localized strategy shift.</a:t>
            </a:r>
          </a:p>
          <a:p>
            <a:pPr marL="0" indent="0">
              <a:buNone/>
            </a:pPr>
            <a:endParaRPr lang="en-IN" sz="21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EE75E0-253A-B68D-12AF-274D71E5E7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5"/>
            <a:ext cx="5334000" cy="3981617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1B68F0-35CC-E789-79AC-F599CE504FA5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38DD8E-B4C7-DDBB-23A4-92BE64DD1178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B8685F7-2A50-F597-AC32-7046D570568A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84639533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ED64-8B15-4E6B-03CE-9AE3D9FAA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Payment Method Trends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D46C1B-FEE5-17E7-029F-718ED8E6A4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827" y="1269992"/>
            <a:ext cx="6292644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Customers primarily use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Cash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Credit Cards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Debit Card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usage is the least common payment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Correlation: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Higher-value categories (Technology/Shoes) tend to align with Credit Card usage,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while everyday purchases often utilize Cash.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Analysis: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There is a strong correlation between older shoppers (46+) and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Cash payments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(28.27M), while younger demographics trend toward digital methods</a:t>
            </a:r>
            <a:endParaRPr kumimoji="0" lang="en-US" altLang="en-US" sz="2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142E71-9522-F9BA-D28B-EA8CA0180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471" y="1325563"/>
            <a:ext cx="5341874" cy="482867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646D9D-52D9-C6BE-7A56-9D76A5F1F55B}"/>
              </a:ext>
            </a:extLst>
          </p:cNvPr>
          <p:cNvCxnSpPr/>
          <p:nvPr/>
        </p:nvCxnSpPr>
        <p:spPr>
          <a:xfrm>
            <a:off x="685799" y="1079756"/>
            <a:ext cx="10668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F38667-1161-D192-BCD5-02DC782033A1}"/>
              </a:ext>
            </a:extLst>
          </p:cNvPr>
          <p:cNvCxnSpPr/>
          <p:nvPr/>
        </p:nvCxnSpPr>
        <p:spPr>
          <a:xfrm>
            <a:off x="695631" y="6369512"/>
            <a:ext cx="10668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27513F8-FB2D-F068-4883-156FB1B1102E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072652365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8BC6-1DB1-76D6-78FE-1823E5B5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Most transactions by gender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6AA17D-6F3F-3D1C-25FE-B1B879D52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781" y="1492045"/>
            <a:ext cx="9254742" cy="4696414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EFA516B-565B-E27E-84C5-499C4B17F6F4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8D0656-2BD5-1D89-8C43-146D305A5271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FD0804-9D35-427B-33D7-6BCB2B17F76C}"/>
              </a:ext>
            </a:extLst>
          </p:cNvPr>
          <p:cNvSpPr txBox="1"/>
          <p:nvPr/>
        </p:nvSpPr>
        <p:spPr>
          <a:xfrm>
            <a:off x="2035277" y="6370682"/>
            <a:ext cx="7295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following queries represent the core logic used to solve Tasks 1–10.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0644672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216AC-1981-CAB5-6088-F0D2C530A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79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Strategic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A67282-26B0-C472-8309-88FC31AFA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7018"/>
            <a:ext cx="1036119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Inventory Optimization: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Expand floor space for </a:t>
            </a: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Clothing and Technology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the Mall of Istanbul, while evaluating the feasibility of low-performing categories in smaller malls.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Payment Incentives:</a:t>
            </a:r>
            <a:r>
              <a:rPr kumimoji="0" lang="en-US" altLang="en-US" sz="2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Introduce "Debit-only" promotional days or small discounts to reduce the company's reliance on Credit Card processing fees.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Growth Strategy :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"Develop a 'Premium Loyalty Tier' specifically for the </a:t>
            </a:r>
            <a:r>
              <a:rPr lang="en-US" sz="2100" b="1" dirty="0">
                <a:latin typeface="Arial" panose="020B0604020202020204" pitchFamily="34" charset="0"/>
                <a:cs typeface="Arial" panose="020B0604020202020204" pitchFamily="34" charset="0"/>
              </a:rPr>
              <a:t>46+ demographic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in top-tier malls like the Mall of Istanbul and Kanyon, as they show higher-than-average spending resilience in this segment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FD2B70D-D893-A0B3-0EB3-77E857A4504C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F6C895-0E46-A66B-B1A9-F0029346A938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3E3C43D-1F95-20A3-112B-DCF59A45DA1F}"/>
              </a:ext>
            </a:extLst>
          </p:cNvPr>
          <p:cNvSpPr txBox="1"/>
          <p:nvPr/>
        </p:nvSpPr>
        <p:spPr>
          <a:xfrm>
            <a:off x="5637125" y="297431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63667-AA4E-4EF9-0928-AD765BA67B5A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244344298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EBE1-97CE-B5E8-7DD0-19453F9D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Minor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C1031-F417-46B7-3611-AA612C3F0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337" y="1690689"/>
            <a:ext cx="5891464" cy="4336486"/>
          </a:xfrm>
        </p:spPr>
        <p:txBody>
          <a:bodyPr>
            <a:normAutofit lnSpcReduction="10000"/>
          </a:bodyPr>
          <a:lstStyle/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While we lead with youth, our most stable and growing 'hidden' segment is the 46+ group using the most cash at the Mall of Istanbul. Regardless of how we filter the data—by age, gender, or payment method—the Mall of Istanbul consistently captures 24% of our revenue. This proves it is our most stable and reliable operational model.</a:t>
            </a:r>
          </a:p>
          <a:p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Because the product hierarchy (Clothing &gt; Shoes &gt; Technology) remains identical across different data slices, we should prioritize 'Cross-Category' promotions—like offering a discount on Shoes when a customer buys high-end Clothing.</a:t>
            </a:r>
            <a:endParaRPr lang="en-US" sz="2100" dirty="0"/>
          </a:p>
          <a:p>
            <a:endParaRPr lang="en-IN" sz="21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EE2C7A-2FDF-65D9-E1C5-87638301D60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8"/>
            <a:ext cx="5181600" cy="4179169"/>
          </a:xfr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C104E67-0852-68BD-7062-80E379B70BAE}"/>
              </a:ext>
            </a:extLst>
          </p:cNvPr>
          <p:cNvCxnSpPr/>
          <p:nvPr/>
        </p:nvCxnSpPr>
        <p:spPr>
          <a:xfrm>
            <a:off x="766916" y="1445342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11F4AE-7BAA-DC8B-E8BC-276053026A93}"/>
              </a:ext>
            </a:extLst>
          </p:cNvPr>
          <p:cNvCxnSpPr/>
          <p:nvPr/>
        </p:nvCxnSpPr>
        <p:spPr>
          <a:xfrm>
            <a:off x="766916" y="6243484"/>
            <a:ext cx="10508226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F59577-3593-484C-35BA-F83E38870183}"/>
              </a:ext>
            </a:extLst>
          </p:cNvPr>
          <p:cNvSpPr txBox="1"/>
          <p:nvPr/>
        </p:nvSpPr>
        <p:spPr>
          <a:xfrm>
            <a:off x="838201" y="6331457"/>
            <a:ext cx="104369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Analyst Note:</a:t>
            </a:r>
            <a:r>
              <a:rPr lang="en-US" sz="1500" dirty="0"/>
              <a:t> </a:t>
            </a:r>
            <a:r>
              <a:rPr lang="en-US" sz="1500" i="1" dirty="0"/>
              <a:t>Source: Cleaned SQL Transactional Database (99k+ rows)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41582271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360</TotalTime>
  <Words>837</Words>
  <Application>Microsoft Office PowerPoint</Application>
  <PresentationFormat>Widescreen</PresentationFormat>
  <Paragraphs>85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Candara</vt:lpstr>
      <vt:lpstr>Century Gothic</vt:lpstr>
      <vt:lpstr>Wingdings</vt:lpstr>
      <vt:lpstr>Wingdings 3</vt:lpstr>
      <vt:lpstr>Wisp</vt:lpstr>
      <vt:lpstr>Retail Sales &amp; Customer Behavior Analysis</vt:lpstr>
      <vt:lpstr>Goal: To analyze a cleaned MySQL database of 99k+ transactions and visualize key drivers of revenue across 10 major shopping hubs.</vt:lpstr>
      <vt:lpstr>Gender Distribution &amp; Revenue</vt:lpstr>
      <vt:lpstr>Most revenue earned by genders</vt:lpstr>
      <vt:lpstr>Most quantity sold to which gender.</vt:lpstr>
      <vt:lpstr>Age Group Performance</vt:lpstr>
      <vt:lpstr>Age Group Performance - 2</vt:lpstr>
      <vt:lpstr>SQL Query sell most according to Age</vt:lpstr>
      <vt:lpstr>Most transactions by age group</vt:lpstr>
      <vt:lpstr>Product Category Deep-Dive</vt:lpstr>
      <vt:lpstr>Distribution of purchase category</vt:lpstr>
      <vt:lpstr>Relations to between purchase category and other columns</vt:lpstr>
      <vt:lpstr>Geographic Performance (Shopping Malls)</vt:lpstr>
      <vt:lpstr>Payment Method Trends</vt:lpstr>
      <vt:lpstr>Most transactions by gender</vt:lpstr>
      <vt:lpstr>Strategic Recommendations</vt:lpstr>
      <vt:lpstr>Minor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Patel Meet</dc:creator>
  <cp:lastModifiedBy>meetpatel73176@outlook.com</cp:lastModifiedBy>
  <cp:revision>17</cp:revision>
  <dcterms:created xsi:type="dcterms:W3CDTF">2026-01-09T11:13:39Z</dcterms:created>
  <dcterms:modified xsi:type="dcterms:W3CDTF">2026-03-26T05:08:54Z</dcterms:modified>
</cp:coreProperties>
</file>